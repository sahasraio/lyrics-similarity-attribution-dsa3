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800" b="1">
                <a:solidFill>
                  <a:srgbClr val="262626"/>
                </a:solidFill>
                <a:latin typeface="Calibri"/>
              </a:rPr>
              <a:t>Top-1 attribution accuracy (%)</a:t>
            </a:r>
          </a:p>
        </c:rich>
      </c:tx>
      <c:overlay val="0"/>
    </c:title>
    <c:autoTitleDeleted val="0"/>
    <c:plotArea>
      <c:layout/>
      <c:barChart>
        <c:barDir val="col"/>
        <c:grouping val="clustered"/>
        <c:varyColors val="1"/>
        <c:ser>
          <c:idx val="0"/>
          <c:order val="0"/>
          <c:tx>
            <c:strRef>
              <c:f>Sheet1!$B$1</c:f>
              <c:strCache>
                <c:ptCount val="1"/>
                <c:pt idx="0">
                  <c:v>Top-1 attribution accuracy (%)</c:v>
                </c:pt>
              </c:strCache>
            </c:strRef>
          </c:tx>
          <c:spPr>
            <a:solidFill>
              <a:srgbClr val="C00000"/>
            </a:solidFill>
          </c:spPr>
          <c:invertIfNegative val="1"/>
          <c:dLbls>
            <c:spPr>
              <a:noFill/>
              <a:ln>
                <a:noFill/>
              </a:ln>
              <a:effectLst/>
            </c:spPr>
            <c:txPr>
              <a:bodyPr/>
              <a:lstStyle/>
              <a:p>
                <a:pPr>
                  <a:defRPr sz="1400">
                    <a:solidFill>
                      <a:srgbClr val="262626"/>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Jaccard n-gram</c:v>
                </c:pt>
                <c:pt idx="1">
                  <c:v>Edit distance</c:v>
                </c:pt>
                <c:pt idx="2">
                  <c:v>TF-IDF + Cosine</c:v>
                </c:pt>
                <c:pt idx="3">
                  <c:v>MinHash + LSH</c:v>
                </c:pt>
                <c:pt idx="4">
                  <c:v>Embeddings</c:v>
                </c:pt>
              </c:strCache>
            </c:strRef>
          </c:cat>
          <c:val>
            <c:numRef>
              <c:f>Sheet1!$B$2:$B$6</c:f>
              <c:numCache>
                <c:formatCode>General</c:formatCode>
                <c:ptCount val="5"/>
                <c:pt idx="0">
                  <c:v>62</c:v>
                </c:pt>
                <c:pt idx="1">
                  <c:v>58</c:v>
                </c:pt>
                <c:pt idx="2">
                  <c:v>74</c:v>
                </c:pt>
                <c:pt idx="3">
                  <c:v>69</c:v>
                </c:pt>
                <c:pt idx="4">
                  <c:v>81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69AB-4403-98A4-B004D835EAC6}"/>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E6E6E6"/>
            </a:solidFill>
          </a:ln>
        </c:spPr>
        <c:txPr>
          <a:bodyPr/>
          <a:lstStyle/>
          <a:p>
            <a:pPr>
              <a:defRPr sz="1300">
                <a:latin typeface="Calibri"/>
              </a:defRPr>
            </a:pPr>
            <a:endParaRPr lang="en-US"/>
          </a:p>
        </c:txPr>
        <c:crossAx val="-2113994440"/>
        <c:crosses val="autoZero"/>
        <c:auto val="1"/>
        <c:lblAlgn val="ctr"/>
        <c:lblOffset val="100"/>
        <c:noMultiLvlLbl val="0"/>
      </c:catAx>
      <c:valAx>
        <c:axId val="-2113994440"/>
        <c:scaling>
          <c:orientation val="minMax"/>
          <c:max val="100"/>
          <c:min val="0"/>
        </c:scaling>
        <c:delete val="0"/>
        <c:axPos val="l"/>
        <c:majorGridlines>
          <c:spPr>
            <a:ln>
              <a:solidFill>
                <a:srgbClr val="E6E6E6"/>
              </a:solidFill>
            </a:ln>
          </c:spPr>
        </c:majorGridlines>
        <c:numFmt formatCode="General" sourceLinked="1"/>
        <c:majorTickMark val="out"/>
        <c:minorTickMark val="none"/>
        <c:tickLblPos val="nextTo"/>
        <c:spPr>
          <a:ln>
            <a:noFill/>
          </a:ln>
        </c:spPr>
        <c:txPr>
          <a:bodyPr/>
          <a:lstStyle/>
          <a:p>
            <a:pPr>
              <a:defRPr sz="1300">
                <a:latin typeface="Calibri"/>
              </a:defRPr>
            </a:pPr>
            <a:endParaRPr lang="en-US"/>
          </a:p>
        </c:txPr>
        <c:crossAx val="-2068027336"/>
        <c:crosses val="autoZero"/>
        <c:crossBetween val="between"/>
        <c:majorUnit val="20"/>
      </c:valAx>
    </c:plotArea>
    <c:plotVisOnly val="1"/>
    <c:dispBlanksAs val="gap"/>
    <c:showDLblsOverMax val="1"/>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Lyrics Similarity and Attribution</a:t>
            </a:r>
          </a:p>
        </p:txBody>
      </p:sp>
      <p:sp>
        <p:nvSpPr>
          <p:cNvPr id="3" name="Subtitle 2"/>
          <p:cNvSpPr>
            <a:spLocks noGrp="1"/>
          </p:cNvSpPr>
          <p:nvPr>
            <p:ph type="subTitle" idx="1"/>
          </p:nvPr>
        </p:nvSpPr>
        <p:spPr>
          <a:xfrm>
            <a:off x="4270160" y="3513524"/>
            <a:ext cx="4551284" cy="1396014"/>
          </a:xfrm>
        </p:spPr>
        <p:txBody>
          <a:bodyPr/>
          <a:lstStyle/>
          <a:p>
            <a:r>
              <a:rPr lang="en-US" dirty="0" err="1">
                <a:solidFill>
                  <a:srgbClr val="0070C0"/>
                </a:solidFill>
              </a:rPr>
              <a:t>J.Sahasra</a:t>
            </a:r>
            <a:r>
              <a:rPr lang="en-US" dirty="0">
                <a:solidFill>
                  <a:srgbClr val="0070C0"/>
                </a:solidFill>
              </a:rPr>
              <a:t> 2520090067</a:t>
            </a:r>
          </a:p>
          <a:p>
            <a:r>
              <a:rPr lang="en-US" dirty="0" err="1">
                <a:solidFill>
                  <a:srgbClr val="0070C0"/>
                </a:solidFill>
              </a:rPr>
              <a:t>G.Navya</a:t>
            </a:r>
            <a:r>
              <a:rPr lang="en-US" dirty="0">
                <a:solidFill>
                  <a:srgbClr val="0070C0"/>
                </a:solidFill>
              </a:rPr>
              <a:t> </a:t>
            </a:r>
            <a:r>
              <a:rPr lang="en-US" dirty="0" err="1">
                <a:solidFill>
                  <a:srgbClr val="0070C0"/>
                </a:solidFill>
              </a:rPr>
              <a:t>sri</a:t>
            </a:r>
            <a:r>
              <a:rPr lang="en-US" dirty="0">
                <a:solidFill>
                  <a:srgbClr val="0070C0"/>
                </a:solidFill>
              </a:rPr>
              <a:t> 2520090077</a:t>
            </a:r>
          </a:p>
          <a:p>
            <a:r>
              <a:rPr lang="en-US" dirty="0">
                <a:solidFill>
                  <a:srgbClr val="0070C0"/>
                </a:solidFill>
              </a:rPr>
              <a:t>.</a:t>
            </a: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r>
              <a:rPr lang="en-US" dirty="0" err="1">
                <a:solidFill>
                  <a:schemeClr val="tx1">
                    <a:lumMod val="85000"/>
                    <a:lumOff val="15000"/>
                  </a:schemeClr>
                </a:solidFill>
              </a:rPr>
              <a:t>Ms.k.Chandusha</a:t>
            </a:r>
            <a:r>
              <a:rPr lang="en-US" dirty="0">
                <a:solidFill>
                  <a:schemeClr val="tx1">
                    <a:lumMod val="85000"/>
                    <a:lumOff val="15000"/>
                  </a:schemeClr>
                </a:solidFill>
              </a:rPr>
              <a:t> asst professor</a:t>
            </a:r>
          </a:p>
          <a:p>
            <a:r>
              <a:rPr lang="en-US" dirty="0">
                <a:solidFill>
                  <a:schemeClr val="tx1">
                    <a:lumMod val="85000"/>
                    <a:lumOff val="15000"/>
                  </a:schemeClr>
                </a:solidFill>
              </a:rPr>
              <a:t>CS &amp;</a:t>
            </a:r>
            <a:r>
              <a:rPr lang="en-US" dirty="0">
                <a:solidFill>
                  <a:schemeClr val="tx1">
                    <a:lumMod val="95000"/>
                    <a:lumOff val="5000"/>
                  </a:schemeClr>
                </a:solidFill>
              </a:rPr>
              <a:t> IT </a:t>
            </a: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4" name="TextBox 3"/>
          <p:cNvSpPr txBox="1"/>
          <p:nvPr/>
        </p:nvSpPr>
        <p:spPr>
          <a:xfrm>
            <a:off x="822960" y="1371600"/>
            <a:ext cx="6766560" cy="4572000"/>
          </a:xfrm>
          <a:prstGeom prst="rect">
            <a:avLst/>
          </a:prstGeom>
          <a:noFill/>
        </p:spPr>
        <p:txBody>
          <a:bodyPr wrap="square" lIns="45720" tIns="27432" rIns="45720" bIns="27432" anchor="t">
            <a:spAutoFit/>
          </a:bodyPr>
          <a:lstStyle/>
          <a:p>
            <a:pPr algn="l"/>
            <a:r>
              <a:rPr sz="2000" b="0" i="0">
                <a:solidFill>
                  <a:srgbClr val="262626"/>
                </a:solidFill>
                <a:latin typeface="Calibri"/>
              </a:rPr>
              <a:t>Song lyrics are short, repetitive and heavily borrowed from one another, which makes it hard to tell whether two songs genuinely overlap or who wrote a given passage. This project builds a pipeline that cleans lyrics, converts them into comparable representations, scores their similarity, and uses those scores to attribute an unseen lyric to its most likely artist or source song. Efficient data structures such as hash maps, inverted indexes and MinHash signatures keep comparison fast on large collections.</a:t>
            </a:r>
          </a:p>
        </p:txBody>
      </p:sp>
      <p:sp>
        <p:nvSpPr>
          <p:cNvPr id="5" name="Rounded Rectangle 4"/>
          <p:cNvSpPr/>
          <p:nvPr/>
        </p:nvSpPr>
        <p:spPr>
          <a:xfrm>
            <a:off x="8229600" y="1463040"/>
            <a:ext cx="3200400" cy="86868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2400" b="1" i="0">
                <a:solidFill>
                  <a:srgbClr val="FFFFFF"/>
                </a:solidFill>
                <a:latin typeface="Calibri"/>
              </a:rPr>
              <a:t>1   Clean</a:t>
            </a:r>
          </a:p>
        </p:txBody>
      </p:sp>
      <p:sp>
        <p:nvSpPr>
          <p:cNvPr id="6" name="Rounded Rectangle 5"/>
          <p:cNvSpPr/>
          <p:nvPr/>
        </p:nvSpPr>
        <p:spPr>
          <a:xfrm>
            <a:off x="8229600" y="2560320"/>
            <a:ext cx="3200400" cy="868680"/>
          </a:xfrm>
          <a:prstGeom prst="roundRect">
            <a:avLst>
              <a:gd name="adj" fmla="val 8000"/>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2400" b="1" i="0">
                <a:solidFill>
                  <a:srgbClr val="FFFFFF"/>
                </a:solidFill>
                <a:latin typeface="Calibri"/>
              </a:rPr>
              <a:t>2   Represent</a:t>
            </a:r>
          </a:p>
        </p:txBody>
      </p:sp>
      <p:sp>
        <p:nvSpPr>
          <p:cNvPr id="7" name="Rounded Rectangle 6"/>
          <p:cNvSpPr/>
          <p:nvPr/>
        </p:nvSpPr>
        <p:spPr>
          <a:xfrm>
            <a:off x="8229600" y="3657600"/>
            <a:ext cx="3200400" cy="86868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2400" b="1" i="0">
                <a:solidFill>
                  <a:srgbClr val="FFFFFF"/>
                </a:solidFill>
                <a:latin typeface="Calibri"/>
              </a:rPr>
              <a:t>3   Compare</a:t>
            </a:r>
          </a:p>
        </p:txBody>
      </p:sp>
      <p:sp>
        <p:nvSpPr>
          <p:cNvPr id="8" name="Rounded Rectangle 7"/>
          <p:cNvSpPr/>
          <p:nvPr/>
        </p:nvSpPr>
        <p:spPr>
          <a:xfrm>
            <a:off x="8229600" y="4754879"/>
            <a:ext cx="3200400" cy="868680"/>
          </a:xfrm>
          <a:prstGeom prst="roundRect">
            <a:avLst>
              <a:gd name="adj" fmla="val 8000"/>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2400" b="1" i="0">
                <a:solidFill>
                  <a:srgbClr val="FFFFFF"/>
                </a:solidFill>
                <a:latin typeface="Calibri"/>
              </a:rPr>
              <a:t>4   Attribute</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4" name="Rounded Rectangle 3"/>
          <p:cNvSpPr/>
          <p:nvPr/>
        </p:nvSpPr>
        <p:spPr>
          <a:xfrm>
            <a:off x="822960" y="1371600"/>
            <a:ext cx="3383280" cy="3566160"/>
          </a:xfrm>
          <a:prstGeom prst="roundRect">
            <a:avLst>
              <a:gd name="adj" fmla="val 6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97280" y="1600200"/>
            <a:ext cx="548640" cy="54864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800" b="1" i="0">
                <a:solidFill>
                  <a:srgbClr val="FFFFFF"/>
                </a:solidFill>
                <a:latin typeface="Calibri"/>
              </a:rPr>
              <a:t>1</a:t>
            </a:r>
          </a:p>
        </p:txBody>
      </p:sp>
      <p:sp>
        <p:nvSpPr>
          <p:cNvPr id="6" name="TextBox 5"/>
          <p:cNvSpPr txBox="1"/>
          <p:nvPr/>
        </p:nvSpPr>
        <p:spPr>
          <a:xfrm>
            <a:off x="1097280" y="2377440"/>
            <a:ext cx="2834640" cy="822960"/>
          </a:xfrm>
          <a:prstGeom prst="rect">
            <a:avLst/>
          </a:prstGeom>
          <a:noFill/>
        </p:spPr>
        <p:txBody>
          <a:bodyPr wrap="square" lIns="45720" tIns="27432" rIns="45720" bIns="27432" anchor="t">
            <a:spAutoFit/>
          </a:bodyPr>
          <a:lstStyle/>
          <a:p>
            <a:pPr algn="l"/>
            <a:r>
              <a:rPr sz="2200" b="1" i="0">
                <a:solidFill>
                  <a:srgbClr val="7F0000"/>
                </a:solidFill>
                <a:latin typeface="Calibri"/>
              </a:rPr>
              <a:t>Plagiarism and copyright</a:t>
            </a:r>
          </a:p>
        </p:txBody>
      </p:sp>
      <p:sp>
        <p:nvSpPr>
          <p:cNvPr id="7" name="TextBox 6"/>
          <p:cNvSpPr txBox="1"/>
          <p:nvPr/>
        </p:nvSpPr>
        <p:spPr>
          <a:xfrm>
            <a:off x="1097280" y="3246120"/>
            <a:ext cx="2834640" cy="1554480"/>
          </a:xfrm>
          <a:prstGeom prst="rect">
            <a:avLst/>
          </a:prstGeom>
          <a:noFill/>
        </p:spPr>
        <p:txBody>
          <a:bodyPr wrap="square" lIns="45720" tIns="27432" rIns="45720" bIns="27432" anchor="t">
            <a:spAutoFit/>
          </a:bodyPr>
          <a:lstStyle/>
          <a:p>
            <a:pPr algn="l"/>
            <a:r>
              <a:rPr sz="1800" b="0" i="0">
                <a:solidFill>
                  <a:srgbClr val="262626"/>
                </a:solidFill>
                <a:latin typeface="Calibri"/>
              </a:rPr>
              <a:t>Disputes over copied melodies and lyrics need objective, repeatable evidence.</a:t>
            </a:r>
          </a:p>
        </p:txBody>
      </p:sp>
      <p:sp>
        <p:nvSpPr>
          <p:cNvPr id="8" name="Rounded Rectangle 7"/>
          <p:cNvSpPr/>
          <p:nvPr/>
        </p:nvSpPr>
        <p:spPr>
          <a:xfrm>
            <a:off x="4480560" y="1371600"/>
            <a:ext cx="3383280" cy="3566160"/>
          </a:xfrm>
          <a:prstGeom prst="roundRect">
            <a:avLst>
              <a:gd name="adj" fmla="val 6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754880" y="1600200"/>
            <a:ext cx="548640" cy="548640"/>
          </a:xfrm>
          <a:prstGeom prst="ellipse">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800" b="1" i="0">
                <a:solidFill>
                  <a:srgbClr val="FFFFFF"/>
                </a:solidFill>
                <a:latin typeface="Calibri"/>
              </a:rPr>
              <a:t>2</a:t>
            </a:r>
          </a:p>
        </p:txBody>
      </p:sp>
      <p:sp>
        <p:nvSpPr>
          <p:cNvPr id="10" name="TextBox 9"/>
          <p:cNvSpPr txBox="1"/>
          <p:nvPr/>
        </p:nvSpPr>
        <p:spPr>
          <a:xfrm>
            <a:off x="4754880" y="2377440"/>
            <a:ext cx="2834640" cy="822960"/>
          </a:xfrm>
          <a:prstGeom prst="rect">
            <a:avLst/>
          </a:prstGeom>
          <a:noFill/>
        </p:spPr>
        <p:txBody>
          <a:bodyPr wrap="square" lIns="45720" tIns="27432" rIns="45720" bIns="27432" anchor="t">
            <a:spAutoFit/>
          </a:bodyPr>
          <a:lstStyle/>
          <a:p>
            <a:pPr algn="l"/>
            <a:r>
              <a:rPr sz="2200" b="1" i="0">
                <a:solidFill>
                  <a:srgbClr val="7F0000"/>
                </a:solidFill>
                <a:latin typeface="Calibri"/>
              </a:rPr>
              <a:t>Authorship questions</a:t>
            </a:r>
          </a:p>
        </p:txBody>
      </p:sp>
      <p:sp>
        <p:nvSpPr>
          <p:cNvPr id="11" name="TextBox 10"/>
          <p:cNvSpPr txBox="1"/>
          <p:nvPr/>
        </p:nvSpPr>
        <p:spPr>
          <a:xfrm>
            <a:off x="4754880" y="3246120"/>
            <a:ext cx="2834640" cy="1554480"/>
          </a:xfrm>
          <a:prstGeom prst="rect">
            <a:avLst/>
          </a:prstGeom>
          <a:noFill/>
        </p:spPr>
        <p:txBody>
          <a:bodyPr wrap="square" lIns="45720" tIns="27432" rIns="45720" bIns="27432" anchor="t">
            <a:spAutoFit/>
          </a:bodyPr>
          <a:lstStyle/>
          <a:p>
            <a:pPr algn="l"/>
            <a:r>
              <a:rPr sz="1800" b="0" i="0">
                <a:solidFill>
                  <a:srgbClr val="262626"/>
                </a:solidFill>
                <a:latin typeface="Calibri"/>
              </a:rPr>
              <a:t>Ghost-writing, covers and disputed credits make the true source of a lyric unclear.</a:t>
            </a:r>
          </a:p>
        </p:txBody>
      </p:sp>
      <p:sp>
        <p:nvSpPr>
          <p:cNvPr id="12" name="Rounded Rectangle 11"/>
          <p:cNvSpPr/>
          <p:nvPr/>
        </p:nvSpPr>
        <p:spPr>
          <a:xfrm>
            <a:off x="8138160" y="1371600"/>
            <a:ext cx="3383280" cy="3566160"/>
          </a:xfrm>
          <a:prstGeom prst="roundRect">
            <a:avLst>
              <a:gd name="adj" fmla="val 6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412480" y="1600200"/>
            <a:ext cx="548640" cy="54864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800" b="1" i="0">
                <a:solidFill>
                  <a:srgbClr val="FFFFFF"/>
                </a:solidFill>
                <a:latin typeface="Calibri"/>
              </a:rPr>
              <a:t>3</a:t>
            </a:r>
          </a:p>
        </p:txBody>
      </p:sp>
      <p:sp>
        <p:nvSpPr>
          <p:cNvPr id="14" name="TextBox 13"/>
          <p:cNvSpPr txBox="1"/>
          <p:nvPr/>
        </p:nvSpPr>
        <p:spPr>
          <a:xfrm>
            <a:off x="8412480" y="2377440"/>
            <a:ext cx="2834640" cy="822960"/>
          </a:xfrm>
          <a:prstGeom prst="rect">
            <a:avLst/>
          </a:prstGeom>
          <a:noFill/>
        </p:spPr>
        <p:txBody>
          <a:bodyPr wrap="square" lIns="45720" tIns="27432" rIns="45720" bIns="27432" anchor="t">
            <a:spAutoFit/>
          </a:bodyPr>
          <a:lstStyle/>
          <a:p>
            <a:pPr algn="l"/>
            <a:r>
              <a:rPr sz="2200" b="1" i="0">
                <a:solidFill>
                  <a:srgbClr val="7F0000"/>
                </a:solidFill>
                <a:latin typeface="Calibri"/>
              </a:rPr>
              <a:t>Large catalogues</a:t>
            </a:r>
          </a:p>
        </p:txBody>
      </p:sp>
      <p:sp>
        <p:nvSpPr>
          <p:cNvPr id="15" name="TextBox 14"/>
          <p:cNvSpPr txBox="1"/>
          <p:nvPr/>
        </p:nvSpPr>
        <p:spPr>
          <a:xfrm>
            <a:off x="8412480" y="3246120"/>
            <a:ext cx="2834640" cy="1554480"/>
          </a:xfrm>
          <a:prstGeom prst="rect">
            <a:avLst/>
          </a:prstGeom>
          <a:noFill/>
        </p:spPr>
        <p:txBody>
          <a:bodyPr wrap="square" lIns="45720" tIns="27432" rIns="45720" bIns="27432" anchor="t">
            <a:spAutoFit/>
          </a:bodyPr>
          <a:lstStyle/>
          <a:p>
            <a:pPr algn="l"/>
            <a:r>
              <a:rPr sz="1800" b="0" i="0">
                <a:solidFill>
                  <a:srgbClr val="262626"/>
                </a:solidFill>
                <a:latin typeface="Calibri"/>
              </a:rPr>
              <a:t>Millions of songs cannot be compared by hand, so fast algorithms are essential.</a:t>
            </a:r>
          </a:p>
        </p:txBody>
      </p:sp>
      <p:sp>
        <p:nvSpPr>
          <p:cNvPr id="16" name="TextBox 15"/>
          <p:cNvSpPr txBox="1"/>
          <p:nvPr/>
        </p:nvSpPr>
        <p:spPr>
          <a:xfrm>
            <a:off x="822960" y="5303520"/>
            <a:ext cx="10698480" cy="640080"/>
          </a:xfrm>
          <a:prstGeom prst="rect">
            <a:avLst/>
          </a:prstGeom>
          <a:noFill/>
        </p:spPr>
        <p:txBody>
          <a:bodyPr wrap="square" lIns="45720" tIns="27432" rIns="45720" bIns="27432" anchor="ctr">
            <a:spAutoFit/>
          </a:bodyPr>
          <a:lstStyle/>
          <a:p>
            <a:pPr algn="l"/>
            <a:r>
              <a:rPr sz="2000" b="0" i="1">
                <a:solidFill>
                  <a:srgbClr val="C00000"/>
                </a:solidFill>
                <a:latin typeface="Calibri"/>
              </a:rPr>
              <a:t>Lyrics similarity asks how alike two texts are. Attribution asks who is the most likely source.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graphicFrame>
        <p:nvGraphicFramePr>
          <p:cNvPr id="4" name="Table 3"/>
          <p:cNvGraphicFramePr>
            <a:graphicFrameLocks noGrp="1"/>
          </p:cNvGraphicFramePr>
          <p:nvPr/>
        </p:nvGraphicFramePr>
        <p:xfrm>
          <a:off x="822960" y="1280160"/>
          <a:ext cx="10698480" cy="4544568"/>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649224">
                <a:tc>
                  <a:txBody>
                    <a:bodyPr/>
                    <a:lstStyle/>
                    <a:p>
                      <a:r>
                        <a:rPr sz="1600" b="1">
                          <a:solidFill>
                            <a:srgbClr val="FFFFFF"/>
                          </a:solidFill>
                          <a:latin typeface="Calibri"/>
                        </a:rPr>
                        <a:t>Approach</a:t>
                      </a:r>
                    </a:p>
                  </a:txBody>
                  <a:tcPr marL="109728" marR="109728" anchor="ctr">
                    <a:solidFill>
                      <a:srgbClr val="C00000"/>
                    </a:solidFill>
                  </a:tcPr>
                </a:tc>
                <a:tc>
                  <a:txBody>
                    <a:bodyPr/>
                    <a:lstStyle/>
                    <a:p>
                      <a:r>
                        <a:rPr sz="1600" b="1">
                          <a:solidFill>
                            <a:srgbClr val="FFFFFF"/>
                          </a:solidFill>
                          <a:latin typeface="Calibri"/>
                        </a:rPr>
                        <a:t>Idea</a:t>
                      </a:r>
                    </a:p>
                  </a:txBody>
                  <a:tcPr marL="109728" marR="109728" anchor="ctr">
                    <a:solidFill>
                      <a:srgbClr val="C00000"/>
                    </a:solidFill>
                  </a:tcPr>
                </a:tc>
                <a:tc>
                  <a:txBody>
                    <a:bodyPr/>
                    <a:lstStyle/>
                    <a:p>
                      <a:r>
                        <a:rPr sz="1600" b="1">
                          <a:solidFill>
                            <a:srgbClr val="FFFFFF"/>
                          </a:solidFill>
                          <a:latin typeface="Calibri"/>
                        </a:rPr>
                        <a:t>Strength</a:t>
                      </a:r>
                    </a:p>
                  </a:txBody>
                  <a:tcPr marL="109728" marR="109728" anchor="ctr">
                    <a:solidFill>
                      <a:srgbClr val="C00000"/>
                    </a:solidFill>
                  </a:tcPr>
                </a:tc>
                <a:tc>
                  <a:txBody>
                    <a:bodyPr/>
                    <a:lstStyle/>
                    <a:p>
                      <a:r>
                        <a:rPr sz="1600" b="1">
                          <a:solidFill>
                            <a:srgbClr val="FFFFFF"/>
                          </a:solidFill>
                          <a:latin typeface="Calibri"/>
                        </a:rPr>
                        <a:t>Limitation</a:t>
                      </a:r>
                    </a:p>
                  </a:txBody>
                  <a:tcPr marL="109728" marR="109728" anchor="ctr">
                    <a:solidFill>
                      <a:srgbClr val="C00000"/>
                    </a:solidFill>
                  </a:tcPr>
                </a:tc>
                <a:extLst>
                  <a:ext uri="{0D108BD9-81ED-4DB2-BD59-A6C34878D82A}">
                    <a16:rowId xmlns:a16="http://schemas.microsoft.com/office/drawing/2014/main" val="10000"/>
                  </a:ext>
                </a:extLst>
              </a:tr>
              <a:tr h="649224">
                <a:tc>
                  <a:txBody>
                    <a:bodyPr/>
                    <a:lstStyle/>
                    <a:p>
                      <a:r>
                        <a:rPr sz="1600" b="1">
                          <a:solidFill>
                            <a:srgbClr val="262626"/>
                          </a:solidFill>
                          <a:latin typeface="Calibri"/>
                        </a:rPr>
                        <a:t>N-gram / Jaccard</a:t>
                      </a:r>
                    </a:p>
                  </a:txBody>
                  <a:tcPr marL="109728" marR="109728" anchor="ctr">
                    <a:solidFill>
                      <a:srgbClr val="FBEAEA"/>
                    </a:solidFill>
                  </a:tcPr>
                </a:tc>
                <a:tc>
                  <a:txBody>
                    <a:bodyPr/>
                    <a:lstStyle/>
                    <a:p>
                      <a:r>
                        <a:rPr sz="1600" b="0">
                          <a:solidFill>
                            <a:srgbClr val="262626"/>
                          </a:solidFill>
                          <a:latin typeface="Calibri"/>
                        </a:rPr>
                        <a:t>Overlap of word or character shingles</a:t>
                      </a:r>
                    </a:p>
                  </a:txBody>
                  <a:tcPr marL="109728" marR="109728" anchor="ctr">
                    <a:solidFill>
                      <a:srgbClr val="FBEAEA"/>
                    </a:solidFill>
                  </a:tcPr>
                </a:tc>
                <a:tc>
                  <a:txBody>
                    <a:bodyPr/>
                    <a:lstStyle/>
                    <a:p>
                      <a:r>
                        <a:rPr sz="1600" b="0">
                          <a:solidFill>
                            <a:srgbClr val="262626"/>
                          </a:solidFill>
                          <a:latin typeface="Calibri"/>
                        </a:rPr>
                        <a:t>Simple, catches copied phrases</a:t>
                      </a:r>
                    </a:p>
                  </a:txBody>
                  <a:tcPr marL="109728" marR="109728" anchor="ctr">
                    <a:solidFill>
                      <a:srgbClr val="FBEAEA"/>
                    </a:solidFill>
                  </a:tcPr>
                </a:tc>
                <a:tc>
                  <a:txBody>
                    <a:bodyPr/>
                    <a:lstStyle/>
                    <a:p>
                      <a:r>
                        <a:rPr sz="1600" b="0">
                          <a:solidFill>
                            <a:srgbClr val="262626"/>
                          </a:solidFill>
                          <a:latin typeface="Calibri"/>
                        </a:rPr>
                        <a:t>Misses paraphrase</a:t>
                      </a:r>
                    </a:p>
                  </a:txBody>
                  <a:tcPr marL="109728" marR="109728" anchor="ctr">
                    <a:solidFill>
                      <a:srgbClr val="FBEAEA"/>
                    </a:solidFill>
                  </a:tcPr>
                </a:tc>
                <a:extLst>
                  <a:ext uri="{0D108BD9-81ED-4DB2-BD59-A6C34878D82A}">
                    <a16:rowId xmlns:a16="http://schemas.microsoft.com/office/drawing/2014/main" val="10001"/>
                  </a:ext>
                </a:extLst>
              </a:tr>
              <a:tr h="649224">
                <a:tc>
                  <a:txBody>
                    <a:bodyPr/>
                    <a:lstStyle/>
                    <a:p>
                      <a:r>
                        <a:rPr sz="1600" b="1">
                          <a:solidFill>
                            <a:srgbClr val="262626"/>
                          </a:solidFill>
                          <a:latin typeface="Calibri"/>
                        </a:rPr>
                        <a:t>TF-IDF + Cosine</a:t>
                      </a:r>
                    </a:p>
                  </a:txBody>
                  <a:tcPr marL="109728" marR="109728" anchor="ctr">
                    <a:solidFill>
                      <a:srgbClr val="FFFFFF"/>
                    </a:solidFill>
                  </a:tcPr>
                </a:tc>
                <a:tc>
                  <a:txBody>
                    <a:bodyPr/>
                    <a:lstStyle/>
                    <a:p>
                      <a:r>
                        <a:rPr sz="1600" b="0">
                          <a:solidFill>
                            <a:srgbClr val="262626"/>
                          </a:solidFill>
                          <a:latin typeface="Calibri"/>
                        </a:rPr>
                        <a:t>Weighted term vectors compared by angle</a:t>
                      </a:r>
                    </a:p>
                  </a:txBody>
                  <a:tcPr marL="109728" marR="109728" anchor="ctr">
                    <a:solidFill>
                      <a:srgbClr val="FFFFFF"/>
                    </a:solidFill>
                  </a:tcPr>
                </a:tc>
                <a:tc>
                  <a:txBody>
                    <a:bodyPr/>
                    <a:lstStyle/>
                    <a:p>
                      <a:r>
                        <a:rPr sz="1600" b="0">
                          <a:solidFill>
                            <a:srgbClr val="262626"/>
                          </a:solidFill>
                          <a:latin typeface="Calibri"/>
                        </a:rPr>
                        <a:t>Strong baseline, scalable</a:t>
                      </a:r>
                    </a:p>
                  </a:txBody>
                  <a:tcPr marL="109728" marR="109728" anchor="ctr">
                    <a:solidFill>
                      <a:srgbClr val="FFFFFF"/>
                    </a:solidFill>
                  </a:tcPr>
                </a:tc>
                <a:tc>
                  <a:txBody>
                    <a:bodyPr/>
                    <a:lstStyle/>
                    <a:p>
                      <a:r>
                        <a:rPr sz="1600" b="0">
                          <a:solidFill>
                            <a:srgbClr val="262626"/>
                          </a:solidFill>
                          <a:latin typeface="Calibri"/>
                        </a:rPr>
                        <a:t>Ignores word order and meaning</a:t>
                      </a:r>
                    </a:p>
                  </a:txBody>
                  <a:tcPr marL="109728" marR="109728" anchor="ctr">
                    <a:solidFill>
                      <a:srgbClr val="FFFFFF"/>
                    </a:solidFill>
                  </a:tcPr>
                </a:tc>
                <a:extLst>
                  <a:ext uri="{0D108BD9-81ED-4DB2-BD59-A6C34878D82A}">
                    <a16:rowId xmlns:a16="http://schemas.microsoft.com/office/drawing/2014/main" val="10002"/>
                  </a:ext>
                </a:extLst>
              </a:tr>
              <a:tr h="649224">
                <a:tc>
                  <a:txBody>
                    <a:bodyPr/>
                    <a:lstStyle/>
                    <a:p>
                      <a:r>
                        <a:rPr sz="1600" b="1">
                          <a:solidFill>
                            <a:srgbClr val="262626"/>
                          </a:solidFill>
                          <a:latin typeface="Calibri"/>
                        </a:rPr>
                        <a:t>Edit distance</a:t>
                      </a:r>
                    </a:p>
                  </a:txBody>
                  <a:tcPr marL="109728" marR="109728" anchor="ctr">
                    <a:solidFill>
                      <a:srgbClr val="FBEAEA"/>
                    </a:solidFill>
                  </a:tcPr>
                </a:tc>
                <a:tc>
                  <a:txBody>
                    <a:bodyPr/>
                    <a:lstStyle/>
                    <a:p>
                      <a:r>
                        <a:rPr sz="1600" b="0">
                          <a:solidFill>
                            <a:srgbClr val="262626"/>
                          </a:solidFill>
                          <a:latin typeface="Calibri"/>
                        </a:rPr>
                        <a:t>Dynamic programming over characters</a:t>
                      </a:r>
                    </a:p>
                  </a:txBody>
                  <a:tcPr marL="109728" marR="109728" anchor="ctr">
                    <a:solidFill>
                      <a:srgbClr val="FBEAEA"/>
                    </a:solidFill>
                  </a:tcPr>
                </a:tc>
                <a:tc>
                  <a:txBody>
                    <a:bodyPr/>
                    <a:lstStyle/>
                    <a:p>
                      <a:r>
                        <a:rPr sz="1600" b="0">
                          <a:solidFill>
                            <a:srgbClr val="262626"/>
                          </a:solidFill>
                          <a:latin typeface="Calibri"/>
                        </a:rPr>
                        <a:t>Handles small edits</a:t>
                      </a:r>
                    </a:p>
                  </a:txBody>
                  <a:tcPr marL="109728" marR="109728" anchor="ctr">
                    <a:solidFill>
                      <a:srgbClr val="FBEAEA"/>
                    </a:solidFill>
                  </a:tcPr>
                </a:tc>
                <a:tc>
                  <a:txBody>
                    <a:bodyPr/>
                    <a:lstStyle/>
                    <a:p>
                      <a:r>
                        <a:rPr sz="1600" b="0">
                          <a:solidFill>
                            <a:srgbClr val="262626"/>
                          </a:solidFill>
                          <a:latin typeface="Calibri"/>
                        </a:rPr>
                        <a:t>Quadratic time</a:t>
                      </a:r>
                    </a:p>
                  </a:txBody>
                  <a:tcPr marL="109728" marR="109728" anchor="ctr">
                    <a:solidFill>
                      <a:srgbClr val="FBEAEA"/>
                    </a:solidFill>
                  </a:tcPr>
                </a:tc>
                <a:extLst>
                  <a:ext uri="{0D108BD9-81ED-4DB2-BD59-A6C34878D82A}">
                    <a16:rowId xmlns:a16="http://schemas.microsoft.com/office/drawing/2014/main" val="10003"/>
                  </a:ext>
                </a:extLst>
              </a:tr>
              <a:tr h="649224">
                <a:tc>
                  <a:txBody>
                    <a:bodyPr/>
                    <a:lstStyle/>
                    <a:p>
                      <a:r>
                        <a:rPr sz="1600" b="1">
                          <a:solidFill>
                            <a:srgbClr val="262626"/>
                          </a:solidFill>
                          <a:latin typeface="Calibri"/>
                        </a:rPr>
                        <a:t>MinHash + LSH</a:t>
                      </a:r>
                    </a:p>
                  </a:txBody>
                  <a:tcPr marL="109728" marR="109728" anchor="ctr">
                    <a:solidFill>
                      <a:srgbClr val="FFFFFF"/>
                    </a:solidFill>
                  </a:tcPr>
                </a:tc>
                <a:tc>
                  <a:txBody>
                    <a:bodyPr/>
                    <a:lstStyle/>
                    <a:p>
                      <a:r>
                        <a:rPr sz="1600" b="0">
                          <a:solidFill>
                            <a:srgbClr val="262626"/>
                          </a:solidFill>
                          <a:latin typeface="Calibri"/>
                        </a:rPr>
                        <a:t>Compact signatures, bucketed lookup</a:t>
                      </a:r>
                    </a:p>
                  </a:txBody>
                  <a:tcPr marL="109728" marR="109728" anchor="ctr">
                    <a:solidFill>
                      <a:srgbClr val="FFFFFF"/>
                    </a:solidFill>
                  </a:tcPr>
                </a:tc>
                <a:tc>
                  <a:txBody>
                    <a:bodyPr/>
                    <a:lstStyle/>
                    <a:p>
                      <a:r>
                        <a:rPr sz="1600" b="0">
                          <a:solidFill>
                            <a:srgbClr val="262626"/>
                          </a:solidFill>
                          <a:latin typeface="Calibri"/>
                        </a:rPr>
                        <a:t>Fast on huge collections</a:t>
                      </a:r>
                    </a:p>
                  </a:txBody>
                  <a:tcPr marL="109728" marR="109728" anchor="ctr">
                    <a:solidFill>
                      <a:srgbClr val="FFFFFF"/>
                    </a:solidFill>
                  </a:tcPr>
                </a:tc>
                <a:tc>
                  <a:txBody>
                    <a:bodyPr/>
                    <a:lstStyle/>
                    <a:p>
                      <a:r>
                        <a:rPr sz="1600" b="0">
                          <a:solidFill>
                            <a:srgbClr val="262626"/>
                          </a:solidFill>
                          <a:latin typeface="Calibri"/>
                        </a:rPr>
                        <a:t>Approximate result</a:t>
                      </a:r>
                    </a:p>
                  </a:txBody>
                  <a:tcPr marL="109728" marR="109728" anchor="ctr">
                    <a:solidFill>
                      <a:srgbClr val="FFFFFF"/>
                    </a:solidFill>
                  </a:tcPr>
                </a:tc>
                <a:extLst>
                  <a:ext uri="{0D108BD9-81ED-4DB2-BD59-A6C34878D82A}">
                    <a16:rowId xmlns:a16="http://schemas.microsoft.com/office/drawing/2014/main" val="10004"/>
                  </a:ext>
                </a:extLst>
              </a:tr>
              <a:tr h="649224">
                <a:tc>
                  <a:txBody>
                    <a:bodyPr/>
                    <a:lstStyle/>
                    <a:p>
                      <a:r>
                        <a:rPr sz="1600" b="1">
                          <a:solidFill>
                            <a:srgbClr val="262626"/>
                          </a:solidFill>
                          <a:latin typeface="Calibri"/>
                        </a:rPr>
                        <a:t>Embeddings</a:t>
                      </a:r>
                    </a:p>
                  </a:txBody>
                  <a:tcPr marL="109728" marR="109728" anchor="ctr">
                    <a:solidFill>
                      <a:srgbClr val="FBEAEA"/>
                    </a:solidFill>
                  </a:tcPr>
                </a:tc>
                <a:tc>
                  <a:txBody>
                    <a:bodyPr/>
                    <a:lstStyle/>
                    <a:p>
                      <a:r>
                        <a:rPr sz="1600" b="0">
                          <a:solidFill>
                            <a:srgbClr val="262626"/>
                          </a:solidFill>
                          <a:latin typeface="Calibri"/>
                        </a:rPr>
                        <a:t>Dense vectors capturing meaning</a:t>
                      </a:r>
                    </a:p>
                  </a:txBody>
                  <a:tcPr marL="109728" marR="109728" anchor="ctr">
                    <a:solidFill>
                      <a:srgbClr val="FBEAEA"/>
                    </a:solidFill>
                  </a:tcPr>
                </a:tc>
                <a:tc>
                  <a:txBody>
                    <a:bodyPr/>
                    <a:lstStyle/>
                    <a:p>
                      <a:r>
                        <a:rPr sz="1600" b="0">
                          <a:solidFill>
                            <a:srgbClr val="262626"/>
                          </a:solidFill>
                          <a:latin typeface="Calibri"/>
                        </a:rPr>
                        <a:t>Detects reworded lyrics</a:t>
                      </a:r>
                    </a:p>
                  </a:txBody>
                  <a:tcPr marL="109728" marR="109728" anchor="ctr">
                    <a:solidFill>
                      <a:srgbClr val="FBEAEA"/>
                    </a:solidFill>
                  </a:tcPr>
                </a:tc>
                <a:tc>
                  <a:txBody>
                    <a:bodyPr/>
                    <a:lstStyle/>
                    <a:p>
                      <a:r>
                        <a:rPr sz="1600" b="0">
                          <a:solidFill>
                            <a:srgbClr val="262626"/>
                          </a:solidFill>
                          <a:latin typeface="Calibri"/>
                        </a:rPr>
                        <a:t>Needs more compute and data</a:t>
                      </a:r>
                    </a:p>
                  </a:txBody>
                  <a:tcPr marL="109728" marR="109728" anchor="ctr">
                    <a:solidFill>
                      <a:srgbClr val="FBEAEA"/>
                    </a:solidFill>
                  </a:tcPr>
                </a:tc>
                <a:extLst>
                  <a:ext uri="{0D108BD9-81ED-4DB2-BD59-A6C34878D82A}">
                    <a16:rowId xmlns:a16="http://schemas.microsoft.com/office/drawing/2014/main" val="10005"/>
                  </a:ext>
                </a:extLst>
              </a:tr>
              <a:tr h="649224">
                <a:tc>
                  <a:txBody>
                    <a:bodyPr/>
                    <a:lstStyle/>
                    <a:p>
                      <a:r>
                        <a:rPr sz="1600" b="1">
                          <a:solidFill>
                            <a:srgbClr val="262626"/>
                          </a:solidFill>
                          <a:latin typeface="Calibri"/>
                        </a:rPr>
                        <a:t>Stylometry</a:t>
                      </a:r>
                    </a:p>
                  </a:txBody>
                  <a:tcPr marL="109728" marR="109728" anchor="ctr">
                    <a:solidFill>
                      <a:srgbClr val="FFFFFF"/>
                    </a:solidFill>
                  </a:tcPr>
                </a:tc>
                <a:tc>
                  <a:txBody>
                    <a:bodyPr/>
                    <a:lstStyle/>
                    <a:p>
                      <a:r>
                        <a:rPr sz="1600" b="0">
                          <a:solidFill>
                            <a:srgbClr val="262626"/>
                          </a:solidFill>
                          <a:latin typeface="Calibri"/>
                        </a:rPr>
                        <a:t>Writing-style features with a classifier</a:t>
                      </a:r>
                    </a:p>
                  </a:txBody>
                  <a:tcPr marL="109728" marR="109728" anchor="ctr">
                    <a:solidFill>
                      <a:srgbClr val="FFFFFF"/>
                    </a:solidFill>
                  </a:tcPr>
                </a:tc>
                <a:tc>
                  <a:txBody>
                    <a:bodyPr/>
                    <a:lstStyle/>
                    <a:p>
                      <a:r>
                        <a:rPr sz="1600" b="0">
                          <a:solidFill>
                            <a:srgbClr val="262626"/>
                          </a:solidFill>
                          <a:latin typeface="Calibri"/>
                        </a:rPr>
                        <a:t>Supports authorship</a:t>
                      </a:r>
                    </a:p>
                  </a:txBody>
                  <a:tcPr marL="109728" marR="109728" anchor="ctr">
                    <a:solidFill>
                      <a:srgbClr val="FFFFFF"/>
                    </a:solidFill>
                  </a:tcPr>
                </a:tc>
                <a:tc>
                  <a:txBody>
                    <a:bodyPr/>
                    <a:lstStyle/>
                    <a:p>
                      <a:r>
                        <a:rPr sz="1600" b="0">
                          <a:solidFill>
                            <a:srgbClr val="262626"/>
                          </a:solidFill>
                          <a:latin typeface="Calibri"/>
                        </a:rPr>
                        <a:t>Needs enough text per author</a:t>
                      </a:r>
                    </a:p>
                  </a:txBody>
                  <a:tcPr marL="109728" marR="109728" anchor="ctr">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4" name="Rounded Rectangle 3"/>
          <p:cNvSpPr/>
          <p:nvPr/>
        </p:nvSpPr>
        <p:spPr>
          <a:xfrm>
            <a:off x="822960" y="1371600"/>
            <a:ext cx="4297680" cy="4572000"/>
          </a:xfrm>
          <a:prstGeom prst="roundRect">
            <a:avLst>
              <a:gd name="adj" fmla="val 5000"/>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 y="1600200"/>
            <a:ext cx="3749039" cy="548640"/>
          </a:xfrm>
          <a:prstGeom prst="rect">
            <a:avLst/>
          </a:prstGeom>
          <a:noFill/>
        </p:spPr>
        <p:txBody>
          <a:bodyPr wrap="square" lIns="45720" tIns="27432" rIns="45720" bIns="27432" anchor="t">
            <a:spAutoFit/>
          </a:bodyPr>
          <a:lstStyle/>
          <a:p>
            <a:pPr algn="l"/>
            <a:r>
              <a:rPr sz="2600" b="1" i="0">
                <a:solidFill>
                  <a:srgbClr val="FFFFFF"/>
                </a:solidFill>
                <a:latin typeface="Calibri"/>
              </a:rPr>
              <a:t>Problem Statement</a:t>
            </a:r>
          </a:p>
        </p:txBody>
      </p:sp>
      <p:sp>
        <p:nvSpPr>
          <p:cNvPr id="6" name="TextBox 5"/>
          <p:cNvSpPr txBox="1"/>
          <p:nvPr/>
        </p:nvSpPr>
        <p:spPr>
          <a:xfrm>
            <a:off x="1097280" y="2286000"/>
            <a:ext cx="3749039" cy="3474720"/>
          </a:xfrm>
          <a:prstGeom prst="rect">
            <a:avLst/>
          </a:prstGeom>
          <a:noFill/>
        </p:spPr>
        <p:txBody>
          <a:bodyPr wrap="square" lIns="45720" tIns="27432" rIns="45720" bIns="27432" anchor="t">
            <a:spAutoFit/>
          </a:bodyPr>
          <a:lstStyle/>
          <a:p>
            <a:pPr algn="l"/>
            <a:r>
              <a:rPr sz="2000" b="0" i="0">
                <a:solidFill>
                  <a:srgbClr val="FFFFFF"/>
                </a:solidFill>
                <a:latin typeface="Calibri"/>
              </a:rPr>
              <a:t>Given a query lyric and a collection of songs, find how similar the query is to each song and decide which artist or source it most likely belongs to, accurately and in reasonable time.</a:t>
            </a:r>
          </a:p>
        </p:txBody>
      </p:sp>
      <p:sp>
        <p:nvSpPr>
          <p:cNvPr id="7" name="Oval 6"/>
          <p:cNvSpPr/>
          <p:nvPr/>
        </p:nvSpPr>
        <p:spPr>
          <a:xfrm>
            <a:off x="5486400" y="1572768"/>
            <a:ext cx="502920" cy="5029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800" b="1" i="0">
                <a:solidFill>
                  <a:srgbClr val="FFFFFF"/>
                </a:solidFill>
                <a:latin typeface="Calibri"/>
              </a:rPr>
              <a:t>1</a:t>
            </a:r>
          </a:p>
        </p:txBody>
      </p:sp>
      <p:sp>
        <p:nvSpPr>
          <p:cNvPr id="8" name="TextBox 7"/>
          <p:cNvSpPr txBox="1"/>
          <p:nvPr/>
        </p:nvSpPr>
        <p:spPr>
          <a:xfrm>
            <a:off x="6217920" y="1371600"/>
            <a:ext cx="5303520" cy="868680"/>
          </a:xfrm>
          <a:prstGeom prst="rect">
            <a:avLst/>
          </a:prstGeom>
          <a:noFill/>
        </p:spPr>
        <p:txBody>
          <a:bodyPr wrap="square" lIns="45720" tIns="27432" rIns="45720" bIns="27432" anchor="ctr">
            <a:spAutoFit/>
          </a:bodyPr>
          <a:lstStyle/>
          <a:p>
            <a:pPr algn="l"/>
            <a:r>
              <a:rPr sz="2000" b="0" i="0">
                <a:solidFill>
                  <a:srgbClr val="262626"/>
                </a:solidFill>
                <a:latin typeface="Calibri"/>
              </a:rPr>
              <a:t>Clean and normalise a lyrics dataset</a:t>
            </a:r>
          </a:p>
        </p:txBody>
      </p:sp>
      <p:sp>
        <p:nvSpPr>
          <p:cNvPr id="9" name="Oval 8"/>
          <p:cNvSpPr/>
          <p:nvPr/>
        </p:nvSpPr>
        <p:spPr>
          <a:xfrm>
            <a:off x="5486400" y="2514600"/>
            <a:ext cx="502920" cy="502920"/>
          </a:xfrm>
          <a:prstGeom prst="ellipse">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800" b="1" i="0">
                <a:solidFill>
                  <a:srgbClr val="FFFFFF"/>
                </a:solidFill>
                <a:latin typeface="Calibri"/>
              </a:rPr>
              <a:t>2</a:t>
            </a:r>
          </a:p>
        </p:txBody>
      </p:sp>
      <p:sp>
        <p:nvSpPr>
          <p:cNvPr id="10" name="TextBox 9"/>
          <p:cNvSpPr txBox="1"/>
          <p:nvPr/>
        </p:nvSpPr>
        <p:spPr>
          <a:xfrm>
            <a:off x="6217920" y="2313432"/>
            <a:ext cx="5303520" cy="868680"/>
          </a:xfrm>
          <a:prstGeom prst="rect">
            <a:avLst/>
          </a:prstGeom>
          <a:noFill/>
        </p:spPr>
        <p:txBody>
          <a:bodyPr wrap="square" lIns="45720" tIns="27432" rIns="45720" bIns="27432" anchor="ctr">
            <a:spAutoFit/>
          </a:bodyPr>
          <a:lstStyle/>
          <a:p>
            <a:pPr algn="l"/>
            <a:r>
              <a:rPr sz="2000" b="0" i="0">
                <a:solidFill>
                  <a:srgbClr val="262626"/>
                </a:solidFill>
                <a:latin typeface="Calibri"/>
              </a:rPr>
              <a:t>Build n-gram, TF-IDF and MinHash representations</a:t>
            </a:r>
          </a:p>
        </p:txBody>
      </p:sp>
      <p:sp>
        <p:nvSpPr>
          <p:cNvPr id="11" name="Oval 10"/>
          <p:cNvSpPr/>
          <p:nvPr/>
        </p:nvSpPr>
        <p:spPr>
          <a:xfrm>
            <a:off x="5486400" y="3456432"/>
            <a:ext cx="502920" cy="5029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800" b="1" i="0">
                <a:solidFill>
                  <a:srgbClr val="FFFFFF"/>
                </a:solidFill>
                <a:latin typeface="Calibri"/>
              </a:rPr>
              <a:t>3</a:t>
            </a:r>
          </a:p>
        </p:txBody>
      </p:sp>
      <p:sp>
        <p:nvSpPr>
          <p:cNvPr id="12" name="TextBox 11"/>
          <p:cNvSpPr txBox="1"/>
          <p:nvPr/>
        </p:nvSpPr>
        <p:spPr>
          <a:xfrm>
            <a:off x="6217920" y="3255264"/>
            <a:ext cx="5303520" cy="868680"/>
          </a:xfrm>
          <a:prstGeom prst="rect">
            <a:avLst/>
          </a:prstGeom>
          <a:noFill/>
        </p:spPr>
        <p:txBody>
          <a:bodyPr wrap="square" lIns="45720" tIns="27432" rIns="45720" bIns="27432" anchor="ctr">
            <a:spAutoFit/>
          </a:bodyPr>
          <a:lstStyle/>
          <a:p>
            <a:pPr algn="l"/>
            <a:r>
              <a:rPr sz="2000" b="0" i="0">
                <a:solidFill>
                  <a:srgbClr val="262626"/>
                </a:solidFill>
                <a:latin typeface="Calibri"/>
              </a:rPr>
              <a:t>Compute and compare similarity measures</a:t>
            </a:r>
          </a:p>
        </p:txBody>
      </p:sp>
      <p:sp>
        <p:nvSpPr>
          <p:cNvPr id="13" name="Oval 12"/>
          <p:cNvSpPr/>
          <p:nvPr/>
        </p:nvSpPr>
        <p:spPr>
          <a:xfrm>
            <a:off x="5486400" y="4398264"/>
            <a:ext cx="502920" cy="502920"/>
          </a:xfrm>
          <a:prstGeom prst="ellipse">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800" b="1" i="0">
                <a:solidFill>
                  <a:srgbClr val="FFFFFF"/>
                </a:solidFill>
                <a:latin typeface="Calibri"/>
              </a:rPr>
              <a:t>4</a:t>
            </a:r>
          </a:p>
        </p:txBody>
      </p:sp>
      <p:sp>
        <p:nvSpPr>
          <p:cNvPr id="14" name="TextBox 13"/>
          <p:cNvSpPr txBox="1"/>
          <p:nvPr/>
        </p:nvSpPr>
        <p:spPr>
          <a:xfrm>
            <a:off x="6217920" y="4197096"/>
            <a:ext cx="5303520" cy="868680"/>
          </a:xfrm>
          <a:prstGeom prst="rect">
            <a:avLst/>
          </a:prstGeom>
          <a:noFill/>
        </p:spPr>
        <p:txBody>
          <a:bodyPr wrap="square" lIns="45720" tIns="27432" rIns="45720" bIns="27432" anchor="ctr">
            <a:spAutoFit/>
          </a:bodyPr>
          <a:lstStyle/>
          <a:p>
            <a:pPr algn="l"/>
            <a:r>
              <a:rPr sz="2000" b="0" i="0">
                <a:solidFill>
                  <a:srgbClr val="262626"/>
                </a:solidFill>
                <a:latin typeface="Calibri"/>
              </a:rPr>
              <a:t>Attribute unseen lyrics to the top matching artist</a:t>
            </a:r>
          </a:p>
        </p:txBody>
      </p:sp>
      <p:sp>
        <p:nvSpPr>
          <p:cNvPr id="15" name="Oval 14"/>
          <p:cNvSpPr/>
          <p:nvPr/>
        </p:nvSpPr>
        <p:spPr>
          <a:xfrm>
            <a:off x="5486400" y="5340096"/>
            <a:ext cx="502920" cy="5029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800" b="1" i="0">
                <a:solidFill>
                  <a:srgbClr val="FFFFFF"/>
                </a:solidFill>
                <a:latin typeface="Calibri"/>
              </a:rPr>
              <a:t>5</a:t>
            </a:r>
          </a:p>
        </p:txBody>
      </p:sp>
      <p:sp>
        <p:nvSpPr>
          <p:cNvPr id="16" name="TextBox 15"/>
          <p:cNvSpPr txBox="1"/>
          <p:nvPr/>
        </p:nvSpPr>
        <p:spPr>
          <a:xfrm>
            <a:off x="6217920" y="5138928"/>
            <a:ext cx="5303520" cy="868680"/>
          </a:xfrm>
          <a:prstGeom prst="rect">
            <a:avLst/>
          </a:prstGeom>
          <a:noFill/>
        </p:spPr>
        <p:txBody>
          <a:bodyPr wrap="square" lIns="45720" tIns="27432" rIns="45720" bIns="27432" anchor="ctr">
            <a:spAutoFit/>
          </a:bodyPr>
          <a:lstStyle/>
          <a:p>
            <a:pPr algn="l"/>
            <a:r>
              <a:rPr sz="2000" b="0" i="0">
                <a:solidFill>
                  <a:srgbClr val="262626"/>
                </a:solidFill>
                <a:latin typeface="Calibri"/>
              </a:rPr>
              <a:t>Evaluate accuracy and running time</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sp>
        <p:nvSpPr>
          <p:cNvPr id="4" name="Rounded Rectangle 3"/>
          <p:cNvSpPr/>
          <p:nvPr/>
        </p:nvSpPr>
        <p:spPr>
          <a:xfrm>
            <a:off x="822960" y="1554480"/>
            <a:ext cx="2377440" cy="1463040"/>
          </a:xfrm>
          <a:prstGeom prst="roundRect">
            <a:avLst>
              <a:gd name="adj" fmla="val 8000"/>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800" b="1" i="0">
                <a:solidFill>
                  <a:srgbClr val="FFFFFF"/>
                </a:solidFill>
                <a:latin typeface="Calibri"/>
              </a:rPr>
              <a:t>Lyrics dataset</a:t>
            </a:r>
          </a:p>
        </p:txBody>
      </p:sp>
      <p:sp>
        <p:nvSpPr>
          <p:cNvPr id="5" name="Isosceles Triangle 4"/>
          <p:cNvSpPr/>
          <p:nvPr/>
        </p:nvSpPr>
        <p:spPr>
          <a:xfrm rot="5400000">
            <a:off x="3273552" y="2157984"/>
            <a:ext cx="274320" cy="256032"/>
          </a:xfrm>
          <a:prstGeom prst="triangl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611879" y="1554480"/>
            <a:ext cx="2377440" cy="1463040"/>
          </a:xfrm>
          <a:prstGeom prst="roundRect">
            <a:avLst>
              <a:gd name="adj" fmla="val 8000"/>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800" b="1" i="0">
                <a:solidFill>
                  <a:srgbClr val="FFFFFF"/>
                </a:solidFill>
                <a:latin typeface="Calibri"/>
              </a:rPr>
              <a:t>Cleaning and normalisation</a:t>
            </a:r>
          </a:p>
        </p:txBody>
      </p:sp>
      <p:sp>
        <p:nvSpPr>
          <p:cNvPr id="7" name="Isosceles Triangle 6"/>
          <p:cNvSpPr/>
          <p:nvPr/>
        </p:nvSpPr>
        <p:spPr>
          <a:xfrm rot="5400000">
            <a:off x="6062472" y="2157984"/>
            <a:ext cx="274320" cy="256032"/>
          </a:xfrm>
          <a:prstGeom prst="triangl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400800" y="1554480"/>
            <a:ext cx="2377440" cy="1463040"/>
          </a:xfrm>
          <a:prstGeom prst="roundRect">
            <a:avLst>
              <a:gd name="adj" fmla="val 8000"/>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800" b="1" i="0">
                <a:solidFill>
                  <a:srgbClr val="FFFFFF"/>
                </a:solidFill>
                <a:latin typeface="Calibri"/>
              </a:rPr>
              <a:t>Tokenisation and n-grams</a:t>
            </a:r>
          </a:p>
        </p:txBody>
      </p:sp>
      <p:sp>
        <p:nvSpPr>
          <p:cNvPr id="9" name="Isosceles Triangle 8"/>
          <p:cNvSpPr/>
          <p:nvPr/>
        </p:nvSpPr>
        <p:spPr>
          <a:xfrm rot="5400000">
            <a:off x="8851392" y="2157984"/>
            <a:ext cx="274320" cy="256032"/>
          </a:xfrm>
          <a:prstGeom prst="triangl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9189719" y="1554480"/>
            <a:ext cx="2377440" cy="1463040"/>
          </a:xfrm>
          <a:prstGeom prst="roundRect">
            <a:avLst>
              <a:gd name="adj" fmla="val 8000"/>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800" b="1" i="0">
                <a:solidFill>
                  <a:srgbClr val="FFFFFF"/>
                </a:solidFill>
                <a:latin typeface="Calibri"/>
              </a:rPr>
              <a:t>Feature extraction (TF-IDF, MinHash)</a:t>
            </a:r>
          </a:p>
        </p:txBody>
      </p:sp>
      <p:sp>
        <p:nvSpPr>
          <p:cNvPr id="11" name="Rounded Rectangle 10"/>
          <p:cNvSpPr/>
          <p:nvPr/>
        </p:nvSpPr>
        <p:spPr>
          <a:xfrm>
            <a:off x="9189719" y="4023360"/>
            <a:ext cx="2377440" cy="1463040"/>
          </a:xfrm>
          <a:prstGeom prst="roundRect">
            <a:avLst>
              <a:gd name="adj" fmla="val 8000"/>
            </a:avLst>
          </a:prstGeom>
          <a:solidFill>
            <a:srgbClr val="7F000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800" b="1" i="0">
                <a:solidFill>
                  <a:srgbClr val="FFFFFF"/>
                </a:solidFill>
                <a:latin typeface="Calibri"/>
              </a:rPr>
              <a:t>Similarity scoring (cosine, Jaccard, edit)</a:t>
            </a:r>
          </a:p>
        </p:txBody>
      </p:sp>
      <p:sp>
        <p:nvSpPr>
          <p:cNvPr id="12" name="Isosceles Triangle 11"/>
          <p:cNvSpPr/>
          <p:nvPr/>
        </p:nvSpPr>
        <p:spPr>
          <a:xfrm rot="16200000">
            <a:off x="8869680" y="4626864"/>
            <a:ext cx="274320" cy="256032"/>
          </a:xfrm>
          <a:prstGeom prst="triangl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400800" y="4023360"/>
            <a:ext cx="2377440" cy="1463040"/>
          </a:xfrm>
          <a:prstGeom prst="roundRect">
            <a:avLst>
              <a:gd name="adj" fmla="val 8000"/>
            </a:avLst>
          </a:prstGeom>
          <a:solidFill>
            <a:srgbClr val="7F000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800" b="1" i="0">
                <a:solidFill>
                  <a:srgbClr val="FFFFFF"/>
                </a:solidFill>
                <a:latin typeface="Calibri"/>
              </a:rPr>
              <a:t>Ranking and thresholding</a:t>
            </a:r>
          </a:p>
        </p:txBody>
      </p:sp>
      <p:sp>
        <p:nvSpPr>
          <p:cNvPr id="14" name="Isosceles Triangle 13"/>
          <p:cNvSpPr/>
          <p:nvPr/>
        </p:nvSpPr>
        <p:spPr>
          <a:xfrm rot="16200000">
            <a:off x="6080760" y="4626864"/>
            <a:ext cx="274320" cy="256032"/>
          </a:xfrm>
          <a:prstGeom prst="triangl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611879" y="4023360"/>
            <a:ext cx="2377440" cy="1463040"/>
          </a:xfrm>
          <a:prstGeom prst="roundRect">
            <a:avLst>
              <a:gd name="adj" fmla="val 8000"/>
            </a:avLst>
          </a:prstGeom>
          <a:solidFill>
            <a:srgbClr val="7F000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800" b="1" i="0">
                <a:solidFill>
                  <a:srgbClr val="FFFFFF"/>
                </a:solidFill>
                <a:latin typeface="Calibri"/>
              </a:rPr>
              <a:t>Attribution (top-k artist)</a:t>
            </a:r>
          </a:p>
        </p:txBody>
      </p:sp>
      <p:sp>
        <p:nvSpPr>
          <p:cNvPr id="16" name="Isosceles Triangle 15"/>
          <p:cNvSpPr/>
          <p:nvPr/>
        </p:nvSpPr>
        <p:spPr>
          <a:xfrm rot="16200000">
            <a:off x="3291839" y="4626864"/>
            <a:ext cx="274320" cy="256032"/>
          </a:xfrm>
          <a:prstGeom prst="triangl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22960" y="4023360"/>
            <a:ext cx="2377440" cy="146304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800" b="1" i="0">
                <a:solidFill>
                  <a:srgbClr val="FFFFFF"/>
                </a:solidFill>
                <a:latin typeface="Calibri"/>
              </a:rPr>
              <a:t>Evaluation</a:t>
            </a:r>
          </a:p>
        </p:txBody>
      </p:sp>
      <p:sp>
        <p:nvSpPr>
          <p:cNvPr id="18" name="Isosceles Triangle 17"/>
          <p:cNvSpPr/>
          <p:nvPr/>
        </p:nvSpPr>
        <p:spPr>
          <a:xfrm rot="10800000">
            <a:off x="10241280" y="3154680"/>
            <a:ext cx="274320" cy="256032"/>
          </a:xfrm>
          <a:prstGeom prst="triangl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graphicFrame>
        <p:nvGraphicFramePr>
          <p:cNvPr id="4" name="Chart 3"/>
          <p:cNvGraphicFramePr>
            <a:graphicFrameLocks noGrp="1"/>
          </p:cNvGraphicFramePr>
          <p:nvPr/>
        </p:nvGraphicFramePr>
        <p:xfrm>
          <a:off x="822960" y="1280160"/>
          <a:ext cx="7040880" cy="4754880"/>
        </p:xfrm>
        <a:graphic>
          <a:graphicData uri="http://schemas.openxmlformats.org/drawingml/2006/chart">
            <c:chart xmlns:c="http://schemas.openxmlformats.org/drawingml/2006/chart" xmlns:r="http://schemas.openxmlformats.org/officeDocument/2006/relationships" r:id="rId2"/>
          </a:graphicData>
        </a:graphic>
      </p:graphicFrame>
      <p:sp>
        <p:nvSpPr>
          <p:cNvPr id="5" name="Rounded Rectangle 4"/>
          <p:cNvSpPr/>
          <p:nvPr/>
        </p:nvSpPr>
        <p:spPr>
          <a:xfrm>
            <a:off x="8229600" y="1463040"/>
            <a:ext cx="3291840" cy="146304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0" y="1600200"/>
            <a:ext cx="3291840" cy="731520"/>
          </a:xfrm>
          <a:prstGeom prst="rect">
            <a:avLst/>
          </a:prstGeom>
          <a:noFill/>
        </p:spPr>
        <p:txBody>
          <a:bodyPr wrap="square" lIns="45720" tIns="27432" rIns="45720" bIns="27432" anchor="ctr">
            <a:spAutoFit/>
          </a:bodyPr>
          <a:lstStyle/>
          <a:p>
            <a:pPr algn="ctr"/>
            <a:r>
              <a:rPr sz="3600" b="1" i="0">
                <a:solidFill>
                  <a:srgbClr val="FFFFFF"/>
                </a:solidFill>
                <a:latin typeface="Calibri"/>
              </a:rPr>
              <a:t>81%</a:t>
            </a:r>
          </a:p>
        </p:txBody>
      </p:sp>
      <p:sp>
        <p:nvSpPr>
          <p:cNvPr id="7" name="TextBox 6"/>
          <p:cNvSpPr txBox="1"/>
          <p:nvPr/>
        </p:nvSpPr>
        <p:spPr>
          <a:xfrm>
            <a:off x="8229600" y="2331720"/>
            <a:ext cx="3291840" cy="457200"/>
          </a:xfrm>
          <a:prstGeom prst="rect">
            <a:avLst/>
          </a:prstGeom>
          <a:noFill/>
        </p:spPr>
        <p:txBody>
          <a:bodyPr wrap="square" lIns="45720" tIns="27432" rIns="45720" bIns="27432" anchor="t">
            <a:spAutoFit/>
          </a:bodyPr>
          <a:lstStyle/>
          <a:p>
            <a:pPr algn="ctr"/>
            <a:r>
              <a:rPr sz="1800" b="0" i="0">
                <a:solidFill>
                  <a:srgbClr val="FFFFFF"/>
                </a:solidFill>
                <a:latin typeface="Calibri"/>
              </a:rPr>
              <a:t>Best accuracy</a:t>
            </a:r>
          </a:p>
        </p:txBody>
      </p:sp>
      <p:sp>
        <p:nvSpPr>
          <p:cNvPr id="8" name="Rounded Rectangle 7"/>
          <p:cNvSpPr/>
          <p:nvPr/>
        </p:nvSpPr>
        <p:spPr>
          <a:xfrm>
            <a:off x="8229600" y="3200400"/>
            <a:ext cx="3291840" cy="1463040"/>
          </a:xfrm>
          <a:prstGeom prst="roundRect">
            <a:avLst>
              <a:gd name="adj" fmla="val 8000"/>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0" y="3337560"/>
            <a:ext cx="3291840" cy="731520"/>
          </a:xfrm>
          <a:prstGeom prst="rect">
            <a:avLst/>
          </a:prstGeom>
          <a:noFill/>
        </p:spPr>
        <p:txBody>
          <a:bodyPr wrap="square" lIns="45720" tIns="27432" rIns="45720" bIns="27432" anchor="ctr">
            <a:spAutoFit/>
          </a:bodyPr>
          <a:lstStyle/>
          <a:p>
            <a:pPr algn="ctr"/>
            <a:r>
              <a:rPr sz="3600" b="1" i="0">
                <a:solidFill>
                  <a:srgbClr val="FFFFFF"/>
                </a:solidFill>
                <a:latin typeface="Calibri"/>
              </a:rPr>
              <a:t>MinHash</a:t>
            </a:r>
          </a:p>
        </p:txBody>
      </p:sp>
      <p:sp>
        <p:nvSpPr>
          <p:cNvPr id="10" name="TextBox 9"/>
          <p:cNvSpPr txBox="1"/>
          <p:nvPr/>
        </p:nvSpPr>
        <p:spPr>
          <a:xfrm>
            <a:off x="8229600" y="4069080"/>
            <a:ext cx="3291840" cy="457200"/>
          </a:xfrm>
          <a:prstGeom prst="rect">
            <a:avLst/>
          </a:prstGeom>
          <a:noFill/>
        </p:spPr>
        <p:txBody>
          <a:bodyPr wrap="square" lIns="45720" tIns="27432" rIns="45720" bIns="27432" anchor="t">
            <a:spAutoFit/>
          </a:bodyPr>
          <a:lstStyle/>
          <a:p>
            <a:pPr algn="ctr"/>
            <a:r>
              <a:rPr sz="1800" b="0" i="0">
                <a:solidFill>
                  <a:srgbClr val="FFFFFF"/>
                </a:solidFill>
                <a:latin typeface="Calibri"/>
              </a:rPr>
              <a:t>Fastest at scale</a:t>
            </a:r>
          </a:p>
        </p:txBody>
      </p:sp>
      <p:sp>
        <p:nvSpPr>
          <p:cNvPr id="11" name="TextBox 10"/>
          <p:cNvSpPr txBox="1"/>
          <p:nvPr/>
        </p:nvSpPr>
        <p:spPr>
          <a:xfrm>
            <a:off x="8229600" y="5074920"/>
            <a:ext cx="3291840" cy="822960"/>
          </a:xfrm>
          <a:prstGeom prst="rect">
            <a:avLst/>
          </a:prstGeom>
          <a:noFill/>
        </p:spPr>
        <p:txBody>
          <a:bodyPr wrap="square" lIns="45720" tIns="27432" rIns="45720" bIns="27432" anchor="t">
            <a:spAutoFit/>
          </a:bodyPr>
          <a:lstStyle/>
          <a:p>
            <a:pPr algn="l"/>
            <a:r>
              <a:rPr sz="1400" b="0" i="0">
                <a:solidFill>
                  <a:srgbClr val="6B6B6B"/>
                </a:solidFill>
                <a:latin typeface="Calibri"/>
              </a:rPr>
              <a:t>Illustrative values. Replace with your measured results.</a:t>
            </a:r>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4" name="Rounded Rectangle 3"/>
          <p:cNvSpPr/>
          <p:nvPr/>
        </p:nvSpPr>
        <p:spPr>
          <a:xfrm>
            <a:off x="822960" y="1371600"/>
            <a:ext cx="5212080" cy="4572000"/>
          </a:xfrm>
          <a:prstGeom prst="roundRect">
            <a:avLst>
              <a:gd name="adj" fmla="val 5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143000" y="1645920"/>
            <a:ext cx="2194560" cy="594360"/>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2000" b="1" i="0">
                <a:solidFill>
                  <a:srgbClr val="FFFFFF"/>
                </a:solidFill>
                <a:latin typeface="Calibri"/>
              </a:rPr>
              <a:t>Hardware</a:t>
            </a:r>
          </a:p>
        </p:txBody>
      </p:sp>
      <p:sp>
        <p:nvSpPr>
          <p:cNvPr id="6" name="TextBox 5"/>
          <p:cNvSpPr txBox="1"/>
          <p:nvPr/>
        </p:nvSpPr>
        <p:spPr>
          <a:xfrm>
            <a:off x="1188720" y="2560320"/>
            <a:ext cx="4572000" cy="3200400"/>
          </a:xfrm>
          <a:prstGeom prst="rect">
            <a:avLst/>
          </a:prstGeom>
          <a:noFill/>
        </p:spPr>
        <p:txBody>
          <a:bodyPr wrap="square" lIns="45720" tIns="27432" rIns="45720" bIns="27432" anchor="t">
            <a:spAutoFit/>
          </a:bodyPr>
          <a:lstStyle/>
          <a:p>
            <a:pPr algn="l">
              <a:spcAft>
                <a:spcPts val="1000"/>
              </a:spcAft>
            </a:pPr>
            <a:r>
              <a:rPr sz="2000" b="0" i="0">
                <a:solidFill>
                  <a:srgbClr val="262626"/>
                </a:solidFill>
                <a:latin typeface="Calibri"/>
              </a:rPr>
              <a:t>•  Processor: Intel i5 or equivalent</a:t>
            </a:r>
          </a:p>
          <a:p>
            <a:pPr algn="l">
              <a:spcAft>
                <a:spcPts val="1000"/>
              </a:spcAft>
            </a:pPr>
            <a:r>
              <a:rPr sz="2000" b="0" i="0">
                <a:solidFill>
                  <a:srgbClr val="262626"/>
                </a:solidFill>
                <a:latin typeface="Calibri"/>
              </a:rPr>
              <a:t>•  RAM: 8 GB minimum</a:t>
            </a:r>
          </a:p>
          <a:p>
            <a:pPr algn="l">
              <a:spcAft>
                <a:spcPts val="1000"/>
              </a:spcAft>
            </a:pPr>
            <a:r>
              <a:rPr sz="2000" b="0" i="0">
                <a:solidFill>
                  <a:srgbClr val="262626"/>
                </a:solidFill>
                <a:latin typeface="Calibri"/>
              </a:rPr>
              <a:t>•  Storage: 10 GB free</a:t>
            </a:r>
          </a:p>
          <a:p>
            <a:pPr algn="l">
              <a:spcAft>
                <a:spcPts val="1000"/>
              </a:spcAft>
            </a:pPr>
            <a:r>
              <a:rPr sz="2000" b="0" i="0">
                <a:solidFill>
                  <a:srgbClr val="262626"/>
                </a:solidFill>
                <a:latin typeface="Calibri"/>
              </a:rPr>
              <a:t>•  Optional GPU for embeddings</a:t>
            </a:r>
          </a:p>
        </p:txBody>
      </p:sp>
      <p:sp>
        <p:nvSpPr>
          <p:cNvPr id="7" name="Rounded Rectangle 6"/>
          <p:cNvSpPr/>
          <p:nvPr/>
        </p:nvSpPr>
        <p:spPr>
          <a:xfrm>
            <a:off x="6309360" y="1371600"/>
            <a:ext cx="5212080" cy="4572000"/>
          </a:xfrm>
          <a:prstGeom prst="roundRect">
            <a:avLst>
              <a:gd name="adj" fmla="val 5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629400" y="1645920"/>
            <a:ext cx="2194560" cy="594360"/>
          </a:xfrm>
          <a:prstGeom prst="roundRect">
            <a:avLst>
              <a:gd name="adj" fmla="val 50000"/>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2000" b="1" i="0">
                <a:solidFill>
                  <a:srgbClr val="FFFFFF"/>
                </a:solidFill>
                <a:latin typeface="Calibri"/>
              </a:rPr>
              <a:t>Software</a:t>
            </a:r>
          </a:p>
        </p:txBody>
      </p:sp>
      <p:sp>
        <p:nvSpPr>
          <p:cNvPr id="9" name="TextBox 8"/>
          <p:cNvSpPr txBox="1"/>
          <p:nvPr/>
        </p:nvSpPr>
        <p:spPr>
          <a:xfrm>
            <a:off x="6675120" y="2560320"/>
            <a:ext cx="4572000" cy="3200400"/>
          </a:xfrm>
          <a:prstGeom prst="rect">
            <a:avLst/>
          </a:prstGeom>
          <a:noFill/>
        </p:spPr>
        <p:txBody>
          <a:bodyPr wrap="square" lIns="45720" tIns="27432" rIns="45720" bIns="27432" anchor="t">
            <a:spAutoFit/>
          </a:bodyPr>
          <a:lstStyle/>
          <a:p>
            <a:pPr algn="l">
              <a:spcAft>
                <a:spcPts val="1000"/>
              </a:spcAft>
            </a:pPr>
            <a:r>
              <a:rPr sz="2000" b="0" i="0">
                <a:solidFill>
                  <a:srgbClr val="262626"/>
                </a:solidFill>
                <a:latin typeface="Calibri"/>
              </a:rPr>
              <a:t>•  Python 3 with Jupyter</a:t>
            </a:r>
          </a:p>
          <a:p>
            <a:pPr algn="l">
              <a:spcAft>
                <a:spcPts val="1000"/>
              </a:spcAft>
            </a:pPr>
            <a:r>
              <a:rPr sz="2000" b="0" i="0">
                <a:solidFill>
                  <a:srgbClr val="262626"/>
                </a:solidFill>
                <a:latin typeface="Calibri"/>
              </a:rPr>
              <a:t>•  NumPy, pandas, scikit-learn</a:t>
            </a:r>
          </a:p>
          <a:p>
            <a:pPr algn="l">
              <a:spcAft>
                <a:spcPts val="1000"/>
              </a:spcAft>
            </a:pPr>
            <a:r>
              <a:rPr sz="2000" b="0" i="0">
                <a:solidFill>
                  <a:srgbClr val="262626"/>
                </a:solidFill>
                <a:latin typeface="Calibri"/>
              </a:rPr>
              <a:t>•  NLTK or spaCy for text processing</a:t>
            </a:r>
          </a:p>
          <a:p>
            <a:pPr algn="l">
              <a:spcAft>
                <a:spcPts val="1000"/>
              </a:spcAft>
            </a:pPr>
            <a:r>
              <a:rPr sz="2000" b="0" i="0">
                <a:solidFill>
                  <a:srgbClr val="262626"/>
                </a:solidFill>
                <a:latin typeface="Calibri"/>
              </a:rPr>
              <a:t>•  Sentence-Transformers (optional)</a:t>
            </a:r>
          </a:p>
          <a:p>
            <a:pPr algn="l">
              <a:spcAft>
                <a:spcPts val="1000"/>
              </a:spcAft>
            </a:pPr>
            <a:r>
              <a:rPr sz="2000" b="0" i="0">
                <a:solidFill>
                  <a:srgbClr val="262626"/>
                </a:solidFill>
                <a:latin typeface="Calibri"/>
              </a:rPr>
              <a:t>•  Matplotlib for plots</a:t>
            </a:r>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4" name="Rounded Rectangle 3"/>
          <p:cNvSpPr/>
          <p:nvPr/>
        </p:nvSpPr>
        <p:spPr>
          <a:xfrm>
            <a:off x="822960" y="1371600"/>
            <a:ext cx="10698480" cy="1325880"/>
          </a:xfrm>
          <a:prstGeom prst="roundRect">
            <a:avLst>
              <a:gd name="adj" fmla="val 8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97280" y="1737360"/>
            <a:ext cx="594360" cy="5943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800" b="1" i="0">
                <a:solidFill>
                  <a:srgbClr val="FFFFFF"/>
                </a:solidFill>
                <a:latin typeface="Calibri"/>
              </a:rPr>
              <a:t>1</a:t>
            </a:r>
          </a:p>
        </p:txBody>
      </p:sp>
      <p:sp>
        <p:nvSpPr>
          <p:cNvPr id="6" name="TextBox 5"/>
          <p:cNvSpPr txBox="1"/>
          <p:nvPr/>
        </p:nvSpPr>
        <p:spPr>
          <a:xfrm>
            <a:off x="1920240" y="1371600"/>
            <a:ext cx="9326880" cy="1325880"/>
          </a:xfrm>
          <a:prstGeom prst="rect">
            <a:avLst/>
          </a:prstGeom>
          <a:noFill/>
        </p:spPr>
        <p:txBody>
          <a:bodyPr wrap="square" lIns="45720" tIns="27432" rIns="45720" bIns="27432" anchor="ctr">
            <a:spAutoFit/>
          </a:bodyPr>
          <a:lstStyle/>
          <a:p>
            <a:pPr algn="l"/>
            <a:r>
              <a:rPr sz="2200" b="0" i="0">
                <a:solidFill>
                  <a:srgbClr val="262626"/>
                </a:solidFill>
                <a:latin typeface="Calibri"/>
              </a:rPr>
              <a:t>Combining similarity measures with efficient data structures makes lyric comparison practical at catalogue scale.</a:t>
            </a:r>
          </a:p>
        </p:txBody>
      </p:sp>
      <p:sp>
        <p:nvSpPr>
          <p:cNvPr id="7" name="Rounded Rectangle 6"/>
          <p:cNvSpPr/>
          <p:nvPr/>
        </p:nvSpPr>
        <p:spPr>
          <a:xfrm>
            <a:off x="822960" y="2926080"/>
            <a:ext cx="10698480" cy="1325880"/>
          </a:xfrm>
          <a:prstGeom prst="roundRect">
            <a:avLst>
              <a:gd name="adj" fmla="val 8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97280" y="3291840"/>
            <a:ext cx="594360" cy="594360"/>
          </a:xfrm>
          <a:prstGeom prst="ellipse">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800" b="1" i="0">
                <a:solidFill>
                  <a:srgbClr val="FFFFFF"/>
                </a:solidFill>
                <a:latin typeface="Calibri"/>
              </a:rPr>
              <a:t>2</a:t>
            </a:r>
          </a:p>
        </p:txBody>
      </p:sp>
      <p:sp>
        <p:nvSpPr>
          <p:cNvPr id="9" name="TextBox 8"/>
          <p:cNvSpPr txBox="1"/>
          <p:nvPr/>
        </p:nvSpPr>
        <p:spPr>
          <a:xfrm>
            <a:off x="1920240" y="2926080"/>
            <a:ext cx="9326880" cy="1325880"/>
          </a:xfrm>
          <a:prstGeom prst="rect">
            <a:avLst/>
          </a:prstGeom>
          <a:noFill/>
        </p:spPr>
        <p:txBody>
          <a:bodyPr wrap="square" lIns="45720" tIns="27432" rIns="45720" bIns="27432" anchor="ctr">
            <a:spAutoFit/>
          </a:bodyPr>
          <a:lstStyle/>
          <a:p>
            <a:pPr algn="l"/>
            <a:r>
              <a:rPr sz="2200" b="0" i="0">
                <a:solidFill>
                  <a:srgbClr val="262626"/>
                </a:solidFill>
                <a:latin typeface="Calibri"/>
              </a:rPr>
              <a:t>TF-IDF gives a strong, explainable baseline, while embeddings catch reworded lyrics.</a:t>
            </a:r>
          </a:p>
        </p:txBody>
      </p:sp>
      <p:sp>
        <p:nvSpPr>
          <p:cNvPr id="10" name="Rounded Rectangle 9"/>
          <p:cNvSpPr/>
          <p:nvPr/>
        </p:nvSpPr>
        <p:spPr>
          <a:xfrm>
            <a:off x="822960" y="4480560"/>
            <a:ext cx="10698480" cy="1325880"/>
          </a:xfrm>
          <a:prstGeom prst="roundRect">
            <a:avLst>
              <a:gd name="adj" fmla="val 8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097280" y="4846320"/>
            <a:ext cx="594360" cy="5943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800" b="1" i="0">
                <a:solidFill>
                  <a:srgbClr val="FFFFFF"/>
                </a:solidFill>
                <a:latin typeface="Calibri"/>
              </a:rPr>
              <a:t>3</a:t>
            </a:r>
          </a:p>
        </p:txBody>
      </p:sp>
      <p:sp>
        <p:nvSpPr>
          <p:cNvPr id="12" name="TextBox 11"/>
          <p:cNvSpPr txBox="1"/>
          <p:nvPr/>
        </p:nvSpPr>
        <p:spPr>
          <a:xfrm>
            <a:off x="1920240" y="4480560"/>
            <a:ext cx="9326880" cy="1325880"/>
          </a:xfrm>
          <a:prstGeom prst="rect">
            <a:avLst/>
          </a:prstGeom>
          <a:noFill/>
        </p:spPr>
        <p:txBody>
          <a:bodyPr wrap="square" lIns="45720" tIns="27432" rIns="45720" bIns="27432" anchor="ctr">
            <a:spAutoFit/>
          </a:bodyPr>
          <a:lstStyle/>
          <a:p>
            <a:pPr algn="l"/>
            <a:r>
              <a:rPr sz="2200" b="0" i="0">
                <a:solidFill>
                  <a:srgbClr val="262626"/>
                </a:solidFill>
                <a:latin typeface="Calibri"/>
              </a:rPr>
              <a:t>Similarity scores can be turned into artist attribution through top-k ranking.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5" name="Rounded Rectangle 4"/>
          <p:cNvSpPr/>
          <p:nvPr/>
        </p:nvSpPr>
        <p:spPr>
          <a:xfrm>
            <a:off x="822960" y="1371600"/>
            <a:ext cx="5212080" cy="2103120"/>
          </a:xfrm>
          <a:prstGeom prst="roundRect">
            <a:avLst>
              <a:gd name="adj" fmla="val 7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97280" y="1691640"/>
            <a:ext cx="548640" cy="54864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800" b="1" i="0">
                <a:solidFill>
                  <a:srgbClr val="FFFFFF"/>
                </a:solidFill>
                <a:latin typeface="Calibri"/>
              </a:rPr>
              <a:t>1</a:t>
            </a:r>
          </a:p>
        </p:txBody>
      </p:sp>
      <p:sp>
        <p:nvSpPr>
          <p:cNvPr id="7" name="TextBox 6"/>
          <p:cNvSpPr txBox="1"/>
          <p:nvPr/>
        </p:nvSpPr>
        <p:spPr>
          <a:xfrm>
            <a:off x="1874519" y="1645920"/>
            <a:ext cx="3931920" cy="640080"/>
          </a:xfrm>
          <a:prstGeom prst="rect">
            <a:avLst/>
          </a:prstGeom>
          <a:noFill/>
        </p:spPr>
        <p:txBody>
          <a:bodyPr wrap="square" lIns="45720" tIns="27432" rIns="45720" bIns="27432" anchor="ctr">
            <a:spAutoFit/>
          </a:bodyPr>
          <a:lstStyle/>
          <a:p>
            <a:pPr algn="l"/>
            <a:r>
              <a:rPr sz="2400" b="1" i="0">
                <a:solidFill>
                  <a:srgbClr val="7F0000"/>
                </a:solidFill>
                <a:latin typeface="Calibri"/>
              </a:rPr>
              <a:t>Multilingual lyrics</a:t>
            </a:r>
          </a:p>
        </p:txBody>
      </p:sp>
      <p:sp>
        <p:nvSpPr>
          <p:cNvPr id="8" name="TextBox 7"/>
          <p:cNvSpPr txBox="1"/>
          <p:nvPr/>
        </p:nvSpPr>
        <p:spPr>
          <a:xfrm>
            <a:off x="1874519" y="2331720"/>
            <a:ext cx="3931920" cy="1005840"/>
          </a:xfrm>
          <a:prstGeom prst="rect">
            <a:avLst/>
          </a:prstGeom>
          <a:noFill/>
        </p:spPr>
        <p:txBody>
          <a:bodyPr wrap="square" lIns="45720" tIns="27432" rIns="45720" bIns="27432" anchor="t">
            <a:spAutoFit/>
          </a:bodyPr>
          <a:lstStyle/>
          <a:p>
            <a:pPr algn="l"/>
            <a:r>
              <a:rPr sz="1800" b="0" i="0">
                <a:solidFill>
                  <a:srgbClr val="262626"/>
                </a:solidFill>
                <a:latin typeface="Calibri"/>
              </a:rPr>
              <a:t>Compare songs across languages and transliterations.</a:t>
            </a:r>
          </a:p>
        </p:txBody>
      </p:sp>
      <p:sp>
        <p:nvSpPr>
          <p:cNvPr id="9" name="Rounded Rectangle 8"/>
          <p:cNvSpPr/>
          <p:nvPr/>
        </p:nvSpPr>
        <p:spPr>
          <a:xfrm>
            <a:off x="6309360" y="1371600"/>
            <a:ext cx="5212080" cy="2103120"/>
          </a:xfrm>
          <a:prstGeom prst="roundRect">
            <a:avLst>
              <a:gd name="adj" fmla="val 7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583680" y="1691640"/>
            <a:ext cx="548640" cy="548640"/>
          </a:xfrm>
          <a:prstGeom prst="ellipse">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800" b="1" i="0">
                <a:solidFill>
                  <a:srgbClr val="FFFFFF"/>
                </a:solidFill>
                <a:latin typeface="Calibri"/>
              </a:rPr>
              <a:t>2</a:t>
            </a:r>
          </a:p>
        </p:txBody>
      </p:sp>
      <p:sp>
        <p:nvSpPr>
          <p:cNvPr id="11" name="TextBox 10"/>
          <p:cNvSpPr txBox="1"/>
          <p:nvPr/>
        </p:nvSpPr>
        <p:spPr>
          <a:xfrm>
            <a:off x="7360920" y="1645920"/>
            <a:ext cx="3931920" cy="640080"/>
          </a:xfrm>
          <a:prstGeom prst="rect">
            <a:avLst/>
          </a:prstGeom>
          <a:noFill/>
        </p:spPr>
        <p:txBody>
          <a:bodyPr wrap="square" lIns="45720" tIns="27432" rIns="45720" bIns="27432" anchor="ctr">
            <a:spAutoFit/>
          </a:bodyPr>
          <a:lstStyle/>
          <a:p>
            <a:pPr algn="l"/>
            <a:r>
              <a:rPr sz="2400" b="1" i="0">
                <a:solidFill>
                  <a:srgbClr val="7F0000"/>
                </a:solidFill>
                <a:latin typeface="Calibri"/>
              </a:rPr>
              <a:t>Audio and melody</a:t>
            </a:r>
          </a:p>
        </p:txBody>
      </p:sp>
      <p:sp>
        <p:nvSpPr>
          <p:cNvPr id="12" name="TextBox 11"/>
          <p:cNvSpPr txBox="1"/>
          <p:nvPr/>
        </p:nvSpPr>
        <p:spPr>
          <a:xfrm>
            <a:off x="7360920" y="2331720"/>
            <a:ext cx="3931920" cy="1005840"/>
          </a:xfrm>
          <a:prstGeom prst="rect">
            <a:avLst/>
          </a:prstGeom>
          <a:noFill/>
        </p:spPr>
        <p:txBody>
          <a:bodyPr wrap="square" lIns="45720" tIns="27432" rIns="45720" bIns="27432" anchor="t">
            <a:spAutoFit/>
          </a:bodyPr>
          <a:lstStyle/>
          <a:p>
            <a:pPr algn="l"/>
            <a:r>
              <a:rPr sz="1800" b="0" i="0">
                <a:solidFill>
                  <a:srgbClr val="262626"/>
                </a:solidFill>
                <a:latin typeface="Calibri"/>
              </a:rPr>
              <a:t>Combine lyric scores with melody similarity.</a:t>
            </a:r>
          </a:p>
        </p:txBody>
      </p:sp>
      <p:sp>
        <p:nvSpPr>
          <p:cNvPr id="13" name="Rounded Rectangle 12"/>
          <p:cNvSpPr/>
          <p:nvPr/>
        </p:nvSpPr>
        <p:spPr>
          <a:xfrm>
            <a:off x="822960" y="3749039"/>
            <a:ext cx="5212080" cy="2103120"/>
          </a:xfrm>
          <a:prstGeom prst="roundRect">
            <a:avLst>
              <a:gd name="adj" fmla="val 7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97280" y="4069079"/>
            <a:ext cx="548640" cy="54864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800" b="1" i="0">
                <a:solidFill>
                  <a:srgbClr val="FFFFFF"/>
                </a:solidFill>
                <a:latin typeface="Calibri"/>
              </a:rPr>
              <a:t>3</a:t>
            </a:r>
          </a:p>
        </p:txBody>
      </p:sp>
      <p:sp>
        <p:nvSpPr>
          <p:cNvPr id="15" name="TextBox 14"/>
          <p:cNvSpPr txBox="1"/>
          <p:nvPr/>
        </p:nvSpPr>
        <p:spPr>
          <a:xfrm>
            <a:off x="1874519" y="4023359"/>
            <a:ext cx="3931920" cy="640080"/>
          </a:xfrm>
          <a:prstGeom prst="rect">
            <a:avLst/>
          </a:prstGeom>
          <a:noFill/>
        </p:spPr>
        <p:txBody>
          <a:bodyPr wrap="square" lIns="45720" tIns="27432" rIns="45720" bIns="27432" anchor="ctr">
            <a:spAutoFit/>
          </a:bodyPr>
          <a:lstStyle/>
          <a:p>
            <a:pPr algn="l"/>
            <a:r>
              <a:rPr sz="2400" b="1" i="0">
                <a:solidFill>
                  <a:srgbClr val="7F0000"/>
                </a:solidFill>
                <a:latin typeface="Calibri"/>
              </a:rPr>
              <a:t>Deep models</a:t>
            </a:r>
          </a:p>
        </p:txBody>
      </p:sp>
      <p:sp>
        <p:nvSpPr>
          <p:cNvPr id="16" name="TextBox 15"/>
          <p:cNvSpPr txBox="1"/>
          <p:nvPr/>
        </p:nvSpPr>
        <p:spPr>
          <a:xfrm>
            <a:off x="1874519" y="4709159"/>
            <a:ext cx="3931920" cy="1005840"/>
          </a:xfrm>
          <a:prstGeom prst="rect">
            <a:avLst/>
          </a:prstGeom>
          <a:noFill/>
        </p:spPr>
        <p:txBody>
          <a:bodyPr wrap="square" lIns="45720" tIns="27432" rIns="45720" bIns="27432" anchor="t">
            <a:spAutoFit/>
          </a:bodyPr>
          <a:lstStyle/>
          <a:p>
            <a:pPr algn="l"/>
            <a:r>
              <a:rPr sz="1800" b="0" i="0">
                <a:solidFill>
                  <a:srgbClr val="262626"/>
                </a:solidFill>
                <a:latin typeface="Calibri"/>
              </a:rPr>
              <a:t>Fine-tune transformers for authorship attribution.</a:t>
            </a:r>
          </a:p>
        </p:txBody>
      </p:sp>
      <p:sp>
        <p:nvSpPr>
          <p:cNvPr id="17" name="Rounded Rectangle 16"/>
          <p:cNvSpPr/>
          <p:nvPr/>
        </p:nvSpPr>
        <p:spPr>
          <a:xfrm>
            <a:off x="6309360" y="3749039"/>
            <a:ext cx="5212080" cy="2103120"/>
          </a:xfrm>
          <a:prstGeom prst="roundRect">
            <a:avLst>
              <a:gd name="adj" fmla="val 7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583680" y="4069079"/>
            <a:ext cx="548640" cy="548640"/>
          </a:xfrm>
          <a:prstGeom prst="ellipse">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800" b="1" i="0">
                <a:solidFill>
                  <a:srgbClr val="FFFFFF"/>
                </a:solidFill>
                <a:latin typeface="Calibri"/>
              </a:rPr>
              <a:t>4</a:t>
            </a:r>
          </a:p>
        </p:txBody>
      </p:sp>
      <p:sp>
        <p:nvSpPr>
          <p:cNvPr id="19" name="TextBox 18"/>
          <p:cNvSpPr txBox="1"/>
          <p:nvPr/>
        </p:nvSpPr>
        <p:spPr>
          <a:xfrm>
            <a:off x="7360920" y="4023359"/>
            <a:ext cx="3931920" cy="640080"/>
          </a:xfrm>
          <a:prstGeom prst="rect">
            <a:avLst/>
          </a:prstGeom>
          <a:noFill/>
        </p:spPr>
        <p:txBody>
          <a:bodyPr wrap="square" lIns="45720" tIns="27432" rIns="45720" bIns="27432" anchor="ctr">
            <a:spAutoFit/>
          </a:bodyPr>
          <a:lstStyle/>
          <a:p>
            <a:pPr algn="l"/>
            <a:r>
              <a:rPr sz="2400" b="1" i="0">
                <a:solidFill>
                  <a:srgbClr val="7F0000"/>
                </a:solidFill>
                <a:latin typeface="Calibri"/>
              </a:rPr>
              <a:t>Real-time service</a:t>
            </a:r>
          </a:p>
        </p:txBody>
      </p:sp>
      <p:sp>
        <p:nvSpPr>
          <p:cNvPr id="20" name="TextBox 19"/>
          <p:cNvSpPr txBox="1"/>
          <p:nvPr/>
        </p:nvSpPr>
        <p:spPr>
          <a:xfrm>
            <a:off x="7360920" y="4709159"/>
            <a:ext cx="3931920" cy="1005840"/>
          </a:xfrm>
          <a:prstGeom prst="rect">
            <a:avLst/>
          </a:prstGeom>
          <a:noFill/>
        </p:spPr>
        <p:txBody>
          <a:bodyPr wrap="square" lIns="45720" tIns="27432" rIns="45720" bIns="27432" anchor="t">
            <a:spAutoFit/>
          </a:bodyPr>
          <a:lstStyle/>
          <a:p>
            <a:pPr algn="l"/>
            <a:r>
              <a:rPr sz="1800" b="0" i="0">
                <a:solidFill>
                  <a:srgbClr val="262626"/>
                </a:solidFill>
                <a:latin typeface="Calibri"/>
              </a:rPr>
              <a:t>Serve instant look-ups through an indexed web API.</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TotalTime>
  <Words>608</Words>
  <Application>Microsoft Office PowerPoint</Application>
  <PresentationFormat>Widescreen</PresentationFormat>
  <Paragraphs>124</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       Data Structures and Algorithms -3 (25CS2103E)  Lyrics Similarity and Attribution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sahasra jallepalli</cp:lastModifiedBy>
  <cp:revision>20</cp:revision>
  <dcterms:created xsi:type="dcterms:W3CDTF">2024-08-29T05:25:00Z</dcterms:created>
  <dcterms:modified xsi:type="dcterms:W3CDTF">2026-10-12T05:55:25Z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